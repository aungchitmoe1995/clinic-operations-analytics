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10545775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50" b="1">
                <a:solidFill>
                  <a:srgbClr val="2563EB"/>
                </a:solidFill>
              </a:defRPr>
            </a:pPr>
            <a:r>
              <a:t>🏥 CLINICAL GOVERNANCE &amp; HEALTHCARE OPERATIONS BRIEFING</a:t>
            </a:r>
          </a:p>
          <a:p>
            <a:pPr>
              <a:spcAft>
                <a:spcPts val="1400"/>
              </a:spcAft>
              <a:defRPr sz="2800" b="1">
                <a:solidFill>
                  <a:srgbClr val="1E3A8A"/>
                </a:solidFill>
              </a:defRPr>
            </a:pPr>
            <a:r>
              <a:t>Clinic Operations Analytics:</a:t>
            </a:r>
            <a:br/>
            <a:r>
              <a:t>Investigating Patient Flow, Waiting Times &amp; Provider Workload</a:t>
            </a:r>
          </a:p>
          <a:p>
            <a:pPr>
              <a:defRPr sz="1450">
                <a:solidFill>
                  <a:srgbClr val="475569"/>
                </a:solidFill>
              </a:defRPr>
            </a:pPr>
            <a:r>
              <a:t>An Empirical EHR Audit of 16,998 Outpatient Encounters at Metro North Family Health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📊 16,998 Scheduled Encounters   |   👥 2,775 Active Patients   |   🩺 4 Attending Physicians   |   📅 250 Operating Days (2024)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4484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Prepared by: Clinical Data Analyst &amp; Health Informatics Specialist (MBBS)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Presented to: Chief Medical Officers, Clinical Governance Committees &amp; Health Service Executives</a:t>
            </a:r>
          </a:p>
          <a:p>
            <a:pPr>
              <a:defRPr sz="1100">
                <a:solidFill>
                  <a:srgbClr val="2563EB"/>
                </a:solidFill>
              </a:defRPr>
            </a:pPr>
            <a:r>
              <a:t>Analytical Stack: Relational SQLite | SQL CTEs &amp; Window Functions | Python (Pandas/Seaborn) | Interactive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HEALTHCARE CLINICAL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Briefing: SBAR Clinical Operations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Structured clinical governance summary identifying root cause and cost-neutral corrective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</a:defRPr>
            </a:pPr>
            <a:r>
              <a:t>SITUATION (The Operational Challenge)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Following the July 1 launch of a Chronic Disease Campaign, lobby waiting times and patient dissatisfaction escalated rapidly, with severe mid-morning congestion and provider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12064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BACKGROUND (Initial Executive Hypothesis)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Leadership attributed delays to uncontrollable demand surge and physician pacing, considering expensive interventions: extending operating hours or hiring additional locum clinicians.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51206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11D48"/>
                </a:solidFill>
              </a:defRPr>
            </a:pPr>
            <a:r>
              <a:t>ASSESSMENT (The Empirical Data Evidence)</a:t>
            </a:r>
          </a:p>
          <a:p>
            <a:pPr>
              <a:lnSpc>
                <a:spcPct val="125000"/>
              </a:lnSpc>
              <a:defRPr sz="1200">
                <a:solidFill>
                  <a:srgbClr val="1E293B"/>
                </a:solidFill>
              </a:defRPr>
            </a:pPr>
            <a:r>
              <a:t>• Booked volume grew only +12.5% (+2 patients/doctor/day).</a:t>
            </a:r>
            <a:br/>
            <a:r>
              <a:t>• Afternoon clinics stayed flat (P90 wait was 35.2m Pre vs 35.8m Post).</a:t>
            </a:r>
            <a:br/>
            <a:r>
              <a:t>• Morning P90 wait surged +82% (41.9m to 76.3m) due to unbuffered 15-min slots colliding with complex 24.5-min chronic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5333695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78505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3A8A"/>
                </a:solidFill>
              </a:defRPr>
            </a:pPr>
            <a:r>
              <a:t>RECOMMENDATION: Cost-Neutral 4-Point Action Plan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🔹 Protected 30-Min Chronic Care Templates: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Mandate 30-minute booking templates for multi-morbid care plans. Resolves the severe template mismatch with actual 24.5-minute consult times.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🔹 10:30 AM Mid-Morning Catch-Up Buffer: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Insert a single unbooked 15-minute administrative slot to act as a queuing circuit breaker, absorbing stochastic morning overruns before the 11:00 AM wave.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🔹 Dynamic Front-End Nursing Intake: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Reallocate existing nursing roster to staff a 3rd triage vital-signs intake station during peak arrival congestion (08:30–10:15 AM).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🔹 Automated Sunday 16:00 SMS Reminders: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Target the elevated 12.88% Monday no-show rate with proactive automated confirmations to smooth weekly clinic utilization.</a:t>
            </a:r>
          </a:p>
          <a:p>
            <a:pPr>
              <a:defRPr sz="1200" b="1">
                <a:solidFill>
                  <a:srgbClr val="059669"/>
                </a:solidFill>
              </a:defRPr>
            </a:pPr>
            <a:r>
              <a:t>🎯 Target Outcome: Reduces morning P90 wait to &lt;35m with ZERO clinician recruitment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CLINICAL DATA MODEL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Relational Data Architecture: Outpatient EHR &amp; Operational Scheduling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Multi-table schema linking Synthea EHR patient master index to operational milestone timestamps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645920"/>
            <a:ext cx="7315200" cy="4679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CLINICAL DATA GOVERNANCE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Healthcare Data Quality (DQ) Audit &amp; Governance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Algorithmic data cleaning pipeline resolving 6 simulated EHR anomalies to ensure cohort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44752"/>
            <a:ext cx="3364992" cy="868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AUDITED ENCOUNTER COHORT</a:t>
            </a:r>
          </a:p>
          <a:p>
            <a:pPr>
              <a:defRPr sz="1500" b="1">
                <a:solidFill>
                  <a:srgbClr val="1E3A8A"/>
                </a:solidFill>
              </a:defRPr>
            </a:pPr>
            <a:r>
              <a:t>17,004 Audited → 16,998 Clean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2,775 Synthea active patients | 4 clinicians | 250 operating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44752"/>
            <a:ext cx="3364992" cy="868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36192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MILESTONE TIMESTAMP GATES</a:t>
            </a:r>
          </a:p>
          <a:p>
            <a:pPr>
              <a:defRPr sz="1500" b="1">
                <a:solidFill>
                  <a:srgbClr val="1E3A8A"/>
                </a:solidFill>
              </a:defRPr>
            </a:pPr>
            <a:r>
              <a:t>5 Sequential Milestones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Arrival Kiosk -&gt; Triage -&gt; Doctor Start -&gt; Doctor End -&gt; Checkout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444752"/>
            <a:ext cx="3364992" cy="868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536192"/>
            <a:ext cx="30358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HEALTHCARE DQ COMPLIANCE</a:t>
            </a:r>
          </a:p>
          <a:p>
            <a:pPr>
              <a:defRPr sz="1500" b="1">
                <a:solidFill>
                  <a:srgbClr val="1E3A8A"/>
                </a:solidFill>
              </a:defRPr>
            </a:pPr>
            <a:r>
              <a:t>100% Validated Clean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Algorithmic audit quarantined edge cases prior to statistical modeling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87168"/>
            <a:ext cx="519379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578608"/>
            <a:ext cx="4864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E3A8A"/>
                </a:solidFill>
              </a:defRPr>
            </a:pPr>
            <a:r>
              <a:t>1. Milestone Completeness (Kiosk Bypasses)</a:t>
            </a:r>
          </a:p>
          <a:p>
            <a:pPr>
              <a:lnSpc>
                <a:spcPct val="120000"/>
              </a:lnSpc>
              <a:defRPr sz="1050">
                <a:solidFill>
                  <a:srgbClr val="1E293B"/>
                </a:solidFill>
              </a:defRPr>
            </a:pPr>
            <a:r>
              <a:t>• Identified 6 acute walk-in encounters lacking kiosk arrival timestamps.</a:t>
            </a:r>
            <a:br/>
            <a:r>
              <a:t>• Clinical Mechanism: Emergent triage bypass before administrative registration.</a:t>
            </a:r>
            <a:br/>
            <a:r>
              <a:t>• Resolution: Quarantined from waiting time models to prevent artificial zero-wait bias.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6383" y="2487168"/>
            <a:ext cx="519379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2578608"/>
            <a:ext cx="4864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563EB"/>
                </a:solidFill>
              </a:defRPr>
            </a:pPr>
            <a:r>
              <a:t>2. Temporal Order &amp; Tablet Clock Drift</a:t>
            </a:r>
          </a:p>
          <a:p>
            <a:pPr>
              <a:lnSpc>
                <a:spcPct val="120000"/>
              </a:lnSpc>
              <a:defRPr sz="1050">
                <a:solidFill>
                  <a:srgbClr val="1E293B"/>
                </a:solidFill>
              </a:defRPr>
            </a:pPr>
            <a:r>
              <a:t>• Detected 3 encounters where triage start preceded arrival timestamp.</a:t>
            </a:r>
            <a:br/>
            <a:r>
              <a:t>• Clinical Mechanism: Front-desk tablet hardware clock desynchronization.</a:t>
            </a:r>
            <a:br/>
            <a:r>
              <a:t>• Resolution: Quarantined time-sync faults to guarantee valid logical timestamps.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519379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60520"/>
            <a:ext cx="4864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059669"/>
                </a:solidFill>
              </a:defRPr>
            </a:pPr>
            <a:r>
              <a:t>3. Session Discharge Integrity</a:t>
            </a:r>
          </a:p>
          <a:p>
            <a:pPr>
              <a:lnSpc>
                <a:spcPct val="120000"/>
              </a:lnSpc>
              <a:defRPr sz="1050">
                <a:solidFill>
                  <a:srgbClr val="1E293B"/>
                </a:solidFill>
              </a:defRPr>
            </a:pPr>
            <a:r>
              <a:t>• Audited 3 encounters missing final checkout timestamps at clinic close.</a:t>
            </a:r>
            <a:br/>
            <a:r>
              <a:t>• Clinical Mechanism: Unclosed EHR sessions when patients left without front-desk stop.</a:t>
            </a:r>
            <a:br/>
            <a:r>
              <a:t>• Resolution: Quarantined from Total Clinic Length of Stay (LOS) calculations.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383" y="4069080"/>
            <a:ext cx="519379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4160520"/>
            <a:ext cx="4864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E11D48"/>
                </a:solidFill>
              </a:defRPr>
            </a:pPr>
            <a:r>
              <a:t>4. Referential Key &amp; Test Entity Cleansing</a:t>
            </a:r>
          </a:p>
          <a:p>
            <a:pPr>
              <a:lnSpc>
                <a:spcPct val="120000"/>
              </a:lnSpc>
              <a:defRPr sz="1050">
                <a:solidFill>
                  <a:srgbClr val="1E293B"/>
                </a:solidFill>
              </a:defRPr>
            </a:pPr>
            <a:r>
              <a:t>• Resolved 4 duplicate booking keys via primary key deduplication (earliest retained).</a:t>
            </a:r>
            <a:br/>
            <a:r>
              <a:t>• Quarantined 2 test provider records (PRV-999) from physician workload benchmarks.</a:t>
            </a:r>
            <a:br/>
            <a:r>
              <a:t>• Final Clean Mart: 16,998 certified rows with 100% relational integrity.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23560"/>
            <a:ext cx="10728655" cy="841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9671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</a:defRPr>
            </a:pPr>
            <a:r>
              <a:t>🛡️ CLINICAL DATA GOVERNANCE VERIFICATION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All 17,004 raw records were algorithmically audited across 5 relational constraints; 16,998 clean encounters were retained for statistical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HEALTHCARE CLINICAL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Testing the Demand Hypothesis: Monthly Operational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Empirical volume tracking disproves the assumption of uncontrollable patient overload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766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monthly_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5836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54480"/>
            <a:ext cx="368777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3736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VOLUME GROWTH IMPACT</a:t>
            </a:r>
          </a:p>
          <a:p>
            <a:pPr>
              <a:spcAft>
                <a:spcPts val="200"/>
              </a:spcAft>
              <a:defRPr sz="2800" b="1">
                <a:solidFill>
                  <a:srgbClr val="1E3A8A"/>
                </a:solidFill>
              </a:defRPr>
            </a:pPr>
            <a:r>
              <a:t>+12.5%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From ~64 to ~72 visits / day clinic-wide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Orderly Demand Increase: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Total bookings increased from 7,998 visits (Pre) to 9,000 visits (Post). This represents ~2 additional patients per clinician per day.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Stable Completion Rates (81.7%):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Consultation completion rates held steady across all 12 months (81.6% Pre vs 81.8% Post), ruling out patient abandonment.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Executive Takeaway: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An orderly 12.5% increase across a 4-physician clinic does not trigger queuing failure. The root problem lies in schedule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HEALTHCARE CLINICAL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Diurnal Dynamics: Identifying the Mid-Morning Backlog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Hourly P50 vs P90 waiting time tracking reveals unbuffered queuing cascades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766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waiting_time_percentiles_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583680" cy="36210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54480"/>
            <a:ext cx="368777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3736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PEAK MORNING TAIL WAIT</a:t>
            </a:r>
          </a:p>
          <a:p>
            <a:pPr>
              <a:spcAft>
                <a:spcPts val="200"/>
              </a:spcAft>
              <a:defRPr sz="2800" b="1">
                <a:solidFill>
                  <a:srgbClr val="1E3A8A"/>
                </a:solidFill>
              </a:defRPr>
            </a:pPr>
            <a:r>
              <a:t>86.8 min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P90 Wait Time at 10:00 – 11:00 AM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Why P90 Matters (Worst 10% Delays):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While median wait is 21.1m, P90 reveals severe backlog outliers. International benchmarks (NHS, Australia, Singapore) mandate percentiles because averages conceal patient distress.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Compounding Queuing Cascade: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Clinic opens smoothly at 08:00 AM (24m P90). By 10:30 AM, stochastic consult delays compound exponentially into an 86.8m backlog.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Midday Reset Effect: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Between 12:00 and 13:00, doctors clear charts. Wait times drop back to 21–23m at 13:00, proving the collapse is isolated to morning scheduling.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HEALTHCARE CLINICAL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Root Cause Isolation: Morning Session Collapse vs Afternoon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Quasi-experimental evaluation establishes causal link to 15-minute slot compression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766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pre_post_ses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583680" cy="2849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54480"/>
            <a:ext cx="368777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3736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MORNING WAIT TIME SURGE</a:t>
            </a:r>
          </a:p>
          <a:p>
            <a:pPr>
              <a:spcAft>
                <a:spcPts val="200"/>
              </a:spcAft>
              <a:defRPr sz="2800" b="1">
                <a:solidFill>
                  <a:srgbClr val="1E3A8A"/>
                </a:solidFill>
              </a:defRPr>
            </a:pPr>
            <a:r>
              <a:t>+82.1%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Pre: 41.9m ➔ Post: 76.3m (Afternoon flat at 35.8m)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Natural Clinical Experiment: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On July 1, management compressed morning slots from 20m to 15m, while leaving afternoon slots unchanged at 20m (serving as a natural control group).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Afternoon Control Group (Stable):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Afternoon P90 wait times remained completely flat (35.2m Pre vs 35.8m Post) across the exact same providers and examination rooms.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Causal Conclusion: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If disease seasonality or raw volume drove delays, afternoon clinics would have collapsed too. Eliminating the 5-minute morning buffer caused the crisis.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HEALTHCARE CLINICAL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Clinical Complexity Mismatch &amp; Clinician Workload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Dr. Vance carried complex chronic disease reviews incompatible with 15-minute slots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766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provider_workload_and_over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5836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54480"/>
            <a:ext cx="368777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3736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CLINICIAN OVERRUN PEAK</a:t>
            </a:r>
          </a:p>
          <a:p>
            <a:pPr>
              <a:spcAft>
                <a:spcPts val="200"/>
              </a:spcAft>
              <a:defRPr sz="2800" b="1">
                <a:solidFill>
                  <a:srgbClr val="1E3A8A"/>
                </a:solidFill>
              </a:defRPr>
            </a:pPr>
            <a:r>
              <a:t>48.3%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Dr. Arthur Vance (Internal Medicine) Overruns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Chronic Care Case-Mix Strain: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Chronic disease reviews average 24.5 minutes due to multi-morbidity medication reconciliation—fundamentally incompatible with 15-minute booking templates.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Dr. Arthur Vance, MD: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Carried the largest chronic disease panel, delivering 1,307 clinical hours with a 48.3% slot overrun rate (vs ~29–32% for generalist colleagues).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Clinical Realism: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Dr. Vance is not inefficient. Squeezing complex multi-morbid patients into shortened morning slots forced predictable schedule slippage.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HEALTHCARE CLINICAL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Patient Adherence: Analyzing No-Show Patterns by Weekday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Monday morning no-show spike creates operational friction and unutilized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766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5_no_show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583680" cy="26334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54480"/>
            <a:ext cx="368777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37360"/>
            <a:ext cx="32305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MONDAY NO-SHOW SPIKE</a:t>
            </a:r>
          </a:p>
          <a:p>
            <a:pPr>
              <a:spcAft>
                <a:spcPts val="200"/>
              </a:spcAft>
              <a:defRPr sz="2800" b="1">
                <a:solidFill>
                  <a:srgbClr val="1E3A8A"/>
                </a:solidFill>
              </a:defRPr>
            </a:pPr>
            <a:r>
              <a:t>12.88%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vs 10.48% Midweek Baseline (~23% higher)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The Weekend Decay Effect: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Missed appointments peak sharply on Mondays due to weekend lead-time forgetfulness and emerging start-of-week work schedule conflicts.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Access vs Overbooking Friction: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Shortening slots to 'hedge' against no-shows backfired: on high-attendance days, clinics experienced catastrophic lobby gridlock.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Targeted Operational Solution: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475569"/>
                </a:solidFill>
              </a:defRPr>
            </a:pPr>
            <a:r>
              <a:t>Deploy automated 2-way SMS confirmation prompts on Sunday at 16:00, paired with a modest 5–8% Monday morning overbooking buffer.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HEALTHCARE CLINICAL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Interactive Decision Support Tool: Executive Operations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standalone web application providing multi-dimensional operational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7665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preview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769364"/>
            <a:ext cx="6537960" cy="44183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54480"/>
            <a:ext cx="3687775" cy="4846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91640"/>
            <a:ext cx="32305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OPERATIONAL DECISION SUPPORT</a:t>
            </a:r>
          </a:p>
          <a:p>
            <a:pPr>
              <a:spcAft>
                <a:spcPts val="1000"/>
              </a:spcAft>
              <a:defRPr sz="2000" b="1">
                <a:solidFill>
                  <a:srgbClr val="1E3A8A"/>
                </a:solidFill>
              </a:defRPr>
            </a:pPr>
            <a:r>
              <a:t>Interactive Features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Multi-Dimensional Filtering: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Instant cohort drill-down across 3 operational periods (Full Year, Pre, Post) and individual clinicians.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Built-in Evaluator &amp; HR Guide: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On-screen plain English definitions of Median (P50), P90 tail risk, and Slot Overrun rates for hospital boards.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Zero-Lag Architecture: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15 pre-computed JSON slices guarantee instantaneous Chart.js updates without server roundtrips.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Accessible Deployment: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00">
                <a:solidFill>
                  <a:srgbClr val="475569"/>
                </a:solidFill>
              </a:defRPr>
            </a:pPr>
            <a:r>
              <a:t>Runs directly in standard web browsers with zero installation requirements or external dependencies.</a:t>
            </a:r>
          </a:p>
          <a:p>
            <a:pPr>
              <a:defRPr sz="1050" b="1">
                <a:solidFill>
                  <a:srgbClr val="059669"/>
                </a:solidFill>
              </a:defRPr>
            </a:pPr>
            <a:r>
              <a:t>🎯 Live Tool: Open dashboard/index.html in any browser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HEALTHCARE CLINICAL OPERATIONS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Strategic Recommendations &amp;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cost-neutral operational restructuring plan restoring clinic waiting times to &lt;35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82496"/>
            <a:ext cx="47548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1E3A8A"/>
                </a:solidFill>
              </a:defRPr>
            </a:pPr>
            <a:r>
              <a:t>1. Protected Chronic Care Templates</a:t>
            </a:r>
          </a:p>
          <a:p>
            <a:pPr>
              <a:lnSpc>
                <a:spcPct val="125000"/>
              </a:lnSpc>
              <a:defRPr sz="1150">
                <a:solidFill>
                  <a:srgbClr val="1E293B"/>
                </a:solidFill>
              </a:defRPr>
            </a:pPr>
            <a:r>
              <a:t>• Mandate 30-minute booking templates for multi-morbid Care Plans.</a:t>
            </a:r>
            <a:br/>
            <a:r>
              <a:t>• Hard-stop EHR templates to prevent complex cases booking into 15m slots.</a:t>
            </a:r>
            <a:br/>
            <a:r>
              <a:t>• Eliminates structural schedule overrun at the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572768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682496"/>
            <a:ext cx="47548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2563EB"/>
                </a:solidFill>
              </a:defRPr>
            </a:pPr>
            <a:r>
              <a:t>2. Mid-Morning 10:30 AM Catch-Up Buffer</a:t>
            </a:r>
          </a:p>
          <a:p>
            <a:pPr>
              <a:lnSpc>
                <a:spcPct val="125000"/>
              </a:lnSpc>
              <a:defRPr sz="1150">
                <a:solidFill>
                  <a:srgbClr val="1E293B"/>
                </a:solidFill>
              </a:defRPr>
            </a:pPr>
            <a:r>
              <a:t>• Insert a single 15-minute unbooked administrative slot across morning clinics.</a:t>
            </a:r>
            <a:br/>
            <a:r>
              <a:t>• Functions as a mathematical queuing circuit breaker.</a:t>
            </a:r>
            <a:br/>
            <a:r>
              <a:t>• Absorbs upstream overruns and resets lobby waiting before 11:00 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84448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94176"/>
            <a:ext cx="47548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059669"/>
                </a:solidFill>
              </a:defRPr>
            </a:pPr>
            <a:r>
              <a:t>3. Dynamic Front-End Nursing Intake</a:t>
            </a:r>
          </a:p>
          <a:p>
            <a:pPr>
              <a:lnSpc>
                <a:spcPct val="125000"/>
              </a:lnSpc>
              <a:defRPr sz="1150">
                <a:solidFill>
                  <a:srgbClr val="1E293B"/>
                </a:solidFill>
              </a:defRPr>
            </a:pPr>
            <a:r>
              <a:t>• Reallocate nursing shift rosters to staff a 3rd triage vital-signs station.</a:t>
            </a:r>
            <a:br/>
            <a:r>
              <a:t>• Focus intake coverage on peak morning arrivals (08:30–10:15 AM).</a:t>
            </a:r>
            <a:br/>
            <a:r>
              <a:t>• Eliminates the 18-minute front-desk triage lobby choke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3584448"/>
            <a:ext cx="512064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3694176"/>
            <a:ext cx="47548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E11D48"/>
                </a:solidFill>
              </a:defRPr>
            </a:pPr>
            <a:r>
              <a:t>4. Automated Sunday 16:00 SMS Reminders</a:t>
            </a:r>
          </a:p>
          <a:p>
            <a:pPr>
              <a:lnSpc>
                <a:spcPct val="125000"/>
              </a:lnSpc>
              <a:defRPr sz="1150">
                <a:solidFill>
                  <a:srgbClr val="1E293B"/>
                </a:solidFill>
              </a:defRPr>
            </a:pPr>
            <a:r>
              <a:t>• Deploy automated 2-way SMS confirmation prompts on Sunday afternoon.</a:t>
            </a:r>
            <a:br/>
            <a:r>
              <a:t>• Targets the 12.88% Monday no-show surge caused by weekend lag.</a:t>
            </a:r>
            <a:br/>
            <a:r>
              <a:t>• Pairs with a modest 5–8% Monday overbooking buffer to stabilize volume.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10728655" cy="9601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8BDF8"/>
                </a:solidFill>
              </a:defRPr>
            </a:pPr>
            <a:r>
              <a:t>🎯 PROJECTED OPERATIONAL IMPACT (COST-NEUTRAL INTERVENTIONS)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Morning P90 wait times reduced from 76.3m to &lt;35.0m    |    ✔ Provider slot overruns reduced from 48.3% to &lt;20.0%    |    ✔ Zero clinician hiring budget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